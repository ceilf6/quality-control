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811" r:id="rId2"/>
    <p:sldId id="931" r:id="rId3"/>
    <p:sldId id="933" r:id="rId4"/>
    <p:sldId id="934" r:id="rId5"/>
    <p:sldId id="932" r:id="rId6"/>
    <p:sldId id="935" r:id="rId7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963" autoAdjust="0"/>
    <p:restoredTop sz="96374" autoAdjust="0"/>
  </p:normalViewPr>
  <p:slideViewPr>
    <p:cSldViewPr>
      <p:cViewPr varScale="1">
        <p:scale>
          <a:sx n="81" d="100"/>
          <a:sy n="81" d="100"/>
        </p:scale>
        <p:origin x="1987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39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200" d="100"/>
          <a:sy n="200" d="100"/>
        </p:scale>
        <p:origin x="43" y="-1915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89" tIns="47595" rIns="95189" bIns="47595" numCol="1" anchor="t" anchorCtr="0" compatLnSpc="1">
            <a:prstTxWarp prst="textNoShape">
              <a:avLst/>
            </a:prstTxWarp>
          </a:bodyPr>
          <a:lstStyle>
            <a:lvl1pPr defTabSz="952500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89" tIns="47595" rIns="95189" bIns="47595" numCol="1" anchor="t" anchorCtr="0" compatLnSpc="1">
            <a:prstTxWarp prst="textNoShape">
              <a:avLst/>
            </a:prstTxWarp>
          </a:bodyPr>
          <a:lstStyle>
            <a:lvl1pPr algn="r" defTabSz="952500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37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89" tIns="47595" rIns="95189" bIns="47595" numCol="1" anchor="b" anchorCtr="0" compatLnSpc="1">
            <a:prstTxWarp prst="textNoShape">
              <a:avLst/>
            </a:prstTxWarp>
          </a:bodyPr>
          <a:lstStyle>
            <a:lvl1pPr defTabSz="952500">
              <a:defRPr sz="1200"/>
            </a:lvl1pPr>
          </a:lstStyle>
          <a:p>
            <a:pPr>
              <a:defRPr/>
            </a:pPr>
            <a:r>
              <a:rPr lang="fr-FR"/>
              <a:t>Hai Canh VU</a:t>
            </a:r>
          </a:p>
        </p:txBody>
      </p:sp>
      <p:sp>
        <p:nvSpPr>
          <p:cNvPr id="737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89" tIns="47595" rIns="95189" bIns="47595" numCol="1" anchor="b" anchorCtr="0" compatLnSpc="1">
            <a:prstTxWarp prst="textNoShape">
              <a:avLst/>
            </a:prstTxWarp>
          </a:bodyPr>
          <a:lstStyle>
            <a:lvl1pPr algn="r" defTabSz="952500">
              <a:defRPr sz="1200"/>
            </a:lvl1pPr>
          </a:lstStyle>
          <a:p>
            <a:pPr>
              <a:defRPr/>
            </a:pPr>
            <a:fld id="{8DD6D6EB-B5B7-4C90-B157-269532824D8C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621997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89" tIns="47595" rIns="95189" bIns="47595" numCol="1" anchor="t" anchorCtr="0" compatLnSpc="1">
            <a:prstTxWarp prst="textNoShape">
              <a:avLst/>
            </a:prstTxWarp>
          </a:bodyPr>
          <a:lstStyle>
            <a:lvl1pPr defTabSz="952500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89" tIns="47595" rIns="95189" bIns="47595" numCol="1" anchor="t" anchorCtr="0" compatLnSpc="1">
            <a:prstTxWarp prst="textNoShape">
              <a:avLst/>
            </a:prstTxWarp>
          </a:bodyPr>
          <a:lstStyle>
            <a:lvl1pPr algn="r" defTabSz="952500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89" tIns="47595" rIns="95189" bIns="4759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89" tIns="47595" rIns="95189" bIns="47595" numCol="1" anchor="b" anchorCtr="0" compatLnSpc="1">
            <a:prstTxWarp prst="textNoShape">
              <a:avLst/>
            </a:prstTxWarp>
          </a:bodyPr>
          <a:lstStyle>
            <a:lvl1pPr defTabSz="952500">
              <a:defRPr sz="1200"/>
            </a:lvl1pPr>
          </a:lstStyle>
          <a:p>
            <a:pPr>
              <a:defRPr/>
            </a:pPr>
            <a:r>
              <a:rPr lang="fr-FR"/>
              <a:t>Hai Canh VU</a:t>
            </a:r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89" tIns="47595" rIns="95189" bIns="47595" numCol="1" anchor="b" anchorCtr="0" compatLnSpc="1">
            <a:prstTxWarp prst="textNoShape">
              <a:avLst/>
            </a:prstTxWarp>
          </a:bodyPr>
          <a:lstStyle>
            <a:lvl1pPr algn="r" defTabSz="952500">
              <a:defRPr sz="1200"/>
            </a:lvl1pPr>
          </a:lstStyle>
          <a:p>
            <a:pPr>
              <a:defRPr/>
            </a:pPr>
            <a:fld id="{8FADE52C-4518-48E1-9309-AEA0C32D95EB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pic>
        <p:nvPicPr>
          <p:cNvPr id="8" name="图片 5">
            <a:extLst>
              <a:ext uri="{FF2B5EF4-FFF2-40B4-BE49-F238E27FC236}">
                <a16:creationId xmlns:a16="http://schemas.microsoft.com/office/drawing/2014/main" id="{715C52C2-F212-4838-A3AC-66498DA995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280" y="4356369"/>
            <a:ext cx="636426" cy="24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14030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Hai Canh VU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FADE52C-4518-48E1-9309-AEA0C32D95EB}" type="slidenum">
              <a:rPr lang="fr-FR" smtClean="0"/>
              <a:pPr>
                <a:defRPr/>
              </a:pPr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7120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Hai Canh VU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FADE52C-4518-48E1-9309-AEA0C32D95EB}" type="slidenum">
              <a:rPr lang="fr-FR" smtClean="0"/>
              <a:pPr>
                <a:defRPr/>
              </a:pPr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31517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Hai Canh VU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FADE52C-4518-48E1-9309-AEA0C32D95EB}" type="slidenum">
              <a:rPr lang="fr-FR" smtClean="0"/>
              <a:pPr>
                <a:defRPr/>
              </a:pPr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9180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Hai Canh VU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FADE52C-4518-48E1-9309-AEA0C32D95EB}" type="slidenum">
              <a:rPr lang="fr-FR" smtClean="0"/>
              <a:pPr>
                <a:defRPr/>
              </a:pPr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80750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Hai Canh VU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FADE52C-4518-48E1-9309-AEA0C32D95EB}" type="slidenum">
              <a:rPr lang="fr-FR" smtClean="0"/>
              <a:pPr>
                <a:defRPr/>
              </a:pPr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4300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Hai Canh VU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FADE52C-4518-48E1-9309-AEA0C32D95EB}" type="slidenum">
              <a:rPr lang="fr-FR" smtClean="0"/>
              <a:pPr>
                <a:defRPr/>
              </a:pPr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7690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697578"/>
            <a:ext cx="8516744" cy="5097146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lang="en-US" dirty="0" smtClean="0">
                <a:latin typeface="Century Gothic" panose="020B0502020202020204" pitchFamily="34" charset="0"/>
              </a:defRPr>
            </a:lvl1pPr>
            <a:lvl2pPr marL="742950" indent="-285750">
              <a:buFont typeface="Wingdings" pitchFamily="2" charset="2"/>
              <a:buChar char="Ø"/>
              <a:defRPr lang="en-US" dirty="0" smtClean="0">
                <a:latin typeface="Century Gothic" panose="020B0502020202020204" pitchFamily="34" charset="0"/>
              </a:defRPr>
            </a:lvl2pPr>
            <a:lvl3pPr>
              <a:defRPr lang="en-US" dirty="0" smtClean="0">
                <a:latin typeface="Century Gothic" panose="020B0502020202020204" pitchFamily="34" charset="0"/>
              </a:defRPr>
            </a:lvl3pPr>
            <a:lvl4pPr>
              <a:defRPr lang="en-US" dirty="0" smtClean="0">
                <a:latin typeface="Century Gothic" panose="020B0502020202020204" pitchFamily="34" charset="0"/>
              </a:defRPr>
            </a:lvl4pPr>
            <a:lvl5pPr>
              <a:defRPr lang="fr-FR" dirty="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C67EA-B7A4-4BA5-AD55-2BB488CA63F6}" type="datetime1">
              <a:rPr lang="fr-FR" smtClean="0"/>
              <a:t>25/03/2026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Hai Canh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FE0B4-9485-468D-8CC0-53380116C60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0" y="-27384"/>
            <a:ext cx="9144000" cy="580926"/>
          </a:xfr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fr-FR" sz="2400" dirty="0">
                <a:solidFill>
                  <a:srgbClr val="FAC828"/>
                </a:solidFill>
                <a:latin typeface="Arial"/>
                <a:cs typeface="Arial"/>
              </a:defRPr>
            </a:lvl1pPr>
          </a:lstStyle>
          <a:p>
            <a:pPr marL="0" lvl="0" algn="l"/>
            <a:r>
              <a:rPr lang="en-US" dirty="0"/>
              <a:t>Click to edit Master title style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73521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020D6D-3FB5-4F7B-9877-4CAA069F6B00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623707-5978-41C4-846F-C8F42F20A236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ABFFC5-7EC9-48BE-A471-CAF84BDDF5F4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4213" y="1341438"/>
            <a:ext cx="3811587" cy="4967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341438"/>
            <a:ext cx="3811588" cy="4967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EB0BCA-6397-40D2-8573-214F68E75BC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0ACB19-8C56-4639-AF2B-BA8051516BB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6B2403-EA0C-437D-8DD2-E673575763F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B94342-0038-49B4-A508-6DE15087ED14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47F22B-52BB-464C-90D6-CFCF895F5C5C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9EB72C-65A4-45C5-996A-785E34159A4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0BD6CD-EF94-4A09-A733-7A6701BC84A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6688" y="44450"/>
            <a:ext cx="1943100" cy="626427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4213" y="44450"/>
            <a:ext cx="5680075" cy="62642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224A75-12D2-49CB-B624-924C1D4629C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44450"/>
            <a:ext cx="7772400" cy="1143000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684213" y="1341438"/>
            <a:ext cx="3811587" cy="49672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341438"/>
            <a:ext cx="3811588" cy="49672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C571A3-5F14-4374-BCBF-ACAC137999B4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re. Texte et 2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44450"/>
            <a:ext cx="7772400" cy="1143000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684213" y="1341438"/>
            <a:ext cx="3811587" cy="49672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4648200" y="1341438"/>
            <a:ext cx="3811588" cy="240665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/>
          </p:nvPr>
        </p:nvSpPr>
        <p:spPr>
          <a:xfrm>
            <a:off x="4648200" y="3900488"/>
            <a:ext cx="3811588" cy="24082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CED9C1-3A5C-40A2-90B3-C09917253A9F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odele_MQ_2005_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 du titre</a:t>
            </a:r>
          </a:p>
        </p:txBody>
      </p:sp>
      <p:sp>
        <p:nvSpPr>
          <p:cNvPr id="25" name="Shape 2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26" name="Shape 2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028209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hyperlink" Target="mailto:hai-canh.vu@utc.fr" TargetMode="Externa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445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/>
              <a:t>Cliquez pour modifier le style du titre du masque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341438"/>
            <a:ext cx="7775575" cy="4967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</a:defRPr>
            </a:lvl1pPr>
          </a:lstStyle>
          <a:p>
            <a:pPr>
              <a:defRPr/>
            </a:pPr>
            <a:fld id="{55539A0A-C0A9-423A-9DF7-980B0A7F21B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1034" name="Text Box 10"/>
          <p:cNvSpPr txBox="1">
            <a:spLocks noChangeArrowheads="1"/>
          </p:cNvSpPr>
          <p:nvPr userDrawn="1"/>
        </p:nvSpPr>
        <p:spPr bwMode="auto">
          <a:xfrm>
            <a:off x="1547664" y="6497859"/>
            <a:ext cx="280166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200" dirty="0">
                <a:latin typeface="Tahoma" pitchFamily="34" charset="0"/>
              </a:rPr>
              <a:t>Alexandre VU &lt;</a:t>
            </a:r>
            <a:r>
              <a:rPr lang="fr-FR" sz="1200" dirty="0">
                <a:solidFill>
                  <a:schemeClr val="tx1"/>
                </a:solidFill>
                <a:latin typeface="Tahoma" pitchFamily="34" charset="0"/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alexandre.vu@utc.fr</a:t>
            </a:r>
            <a:r>
              <a:rPr lang="fr-FR" sz="1200" dirty="0">
                <a:latin typeface="Tahoma" pitchFamily="34" charset="0"/>
              </a:rPr>
              <a:t>&gt;</a:t>
            </a:r>
          </a:p>
        </p:txBody>
      </p:sp>
      <p:sp>
        <p:nvSpPr>
          <p:cNvPr id="1035" name="Line 11"/>
          <p:cNvSpPr>
            <a:spLocks noChangeShapeType="1"/>
          </p:cNvSpPr>
          <p:nvPr userDrawn="1"/>
        </p:nvSpPr>
        <p:spPr bwMode="auto">
          <a:xfrm>
            <a:off x="609600" y="6400800"/>
            <a:ext cx="777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D066531-D292-4236-8DFC-430FCF963DA9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6442708"/>
            <a:ext cx="859867" cy="415292"/>
          </a:xfrm>
          <a:prstGeom prst="rect">
            <a:avLst/>
          </a:prstGeom>
        </p:spPr>
      </p:pic>
      <p:pic>
        <p:nvPicPr>
          <p:cNvPr id="8" name="图片 5">
            <a:extLst>
              <a:ext uri="{FF2B5EF4-FFF2-40B4-BE49-F238E27FC236}">
                <a16:creationId xmlns:a16="http://schemas.microsoft.com/office/drawing/2014/main" id="{7E089F04-4EAC-460B-BF77-6691168EA7A5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6385410"/>
            <a:ext cx="1215809" cy="4725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20"/>
        </a:buBlip>
        <a:defRPr sz="3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21"/>
        </a:buBlip>
        <a:defRPr sz="2800"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000000"/>
          </a:solidFill>
          <a:latin typeface="Calibri" panose="020F0502020204030204" pitchFamily="34" charset="0"/>
          <a:cs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4D41EB2-F63E-499E-9A46-AC24ACFC774F}" type="slidenum">
              <a:rPr lang="fr-FR"/>
              <a:pPr>
                <a:defRPr/>
              </a:pPr>
              <a:t>1</a:t>
            </a:fld>
            <a:endParaRPr lang="fr-FR" dirty="0"/>
          </a:p>
        </p:txBody>
      </p:sp>
      <p:sp>
        <p:nvSpPr>
          <p:cNvPr id="205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27584" y="0"/>
            <a:ext cx="7772400" cy="1800200"/>
          </a:xfrm>
        </p:spPr>
        <p:txBody>
          <a:bodyPr/>
          <a:lstStyle/>
          <a:p>
            <a:pPr eaLnBrk="1" hangingPunct="1"/>
            <a:r>
              <a:rPr lang="fr-FR" b="1" dirty="0">
                <a:solidFill>
                  <a:schemeClr val="accent2"/>
                </a:solidFill>
              </a:rPr>
              <a:t>FQ01 - Management de la Qualité</a:t>
            </a:r>
            <a:r>
              <a:rPr lang="fr-FR" dirty="0">
                <a:solidFill>
                  <a:schemeClr val="accent2"/>
                </a:solidFill>
              </a:rPr>
              <a:t> 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B0F810-9C08-4269-B51E-B33846FD6DC5}"/>
              </a:ext>
            </a:extLst>
          </p:cNvPr>
          <p:cNvSpPr/>
          <p:nvPr/>
        </p:nvSpPr>
        <p:spPr>
          <a:xfrm>
            <a:off x="2771800" y="5835302"/>
            <a:ext cx="34083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UTSEUS - Printemps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E0A91C-A28A-4F0C-A659-BBE9218340FD}"/>
              </a:ext>
            </a:extLst>
          </p:cNvPr>
          <p:cNvSpPr/>
          <p:nvPr/>
        </p:nvSpPr>
        <p:spPr>
          <a:xfrm>
            <a:off x="2286617" y="1477034"/>
            <a:ext cx="45592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600" b="1" dirty="0">
                <a:solidFill>
                  <a:srgbClr val="FF000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Amélioration Continue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463D1A63-AFDF-44A9-8421-180E8AFAB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918" y="2269546"/>
            <a:ext cx="3841686" cy="34195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2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7384"/>
            <a:ext cx="9144000" cy="580926"/>
          </a:xfrm>
        </p:spPr>
        <p:txBody>
          <a:bodyPr/>
          <a:lstStyle/>
          <a:p>
            <a:pPr eaLnBrk="1" hangingPunct="1"/>
            <a:r>
              <a:rPr lang="fr-FR" b="1" dirty="0"/>
              <a:t>QQOQCP</a:t>
            </a:r>
            <a:endParaRPr lang="fr-FR" dirty="0"/>
          </a:p>
        </p:txBody>
      </p:sp>
      <p:pic>
        <p:nvPicPr>
          <p:cNvPr id="7" name="Picture 2" descr="QQOQCP : une carte questions qui donne des réponses ? | Fantadys">
            <a:extLst>
              <a:ext uri="{FF2B5EF4-FFF2-40B4-BE49-F238E27FC236}">
                <a16:creationId xmlns:a16="http://schemas.microsoft.com/office/drawing/2014/main" id="{DF393163-5D6B-4889-9E72-79A31BCBB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412776"/>
            <a:ext cx="6166301" cy="3584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1324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3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7384"/>
            <a:ext cx="9144000" cy="580926"/>
          </a:xfrm>
        </p:spPr>
        <p:txBody>
          <a:bodyPr/>
          <a:lstStyle/>
          <a:p>
            <a:pPr eaLnBrk="1" hangingPunct="1"/>
            <a:r>
              <a:rPr lang="fr-FR" b="1" dirty="0"/>
              <a:t>QQOQCP</a:t>
            </a:r>
            <a:endParaRPr lang="fr-FR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4F447C-1A95-4CED-BF12-75C89E53EFE9}"/>
              </a:ext>
            </a:extLst>
          </p:cNvPr>
          <p:cNvSpPr/>
          <p:nvPr/>
        </p:nvSpPr>
        <p:spPr>
          <a:xfrm>
            <a:off x="323528" y="566869"/>
            <a:ext cx="8640960" cy="5588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600" dirty="0"/>
              <a:t>Un étudiant constate une baisse importante de ses résultats scolaires depuis le début du semestre. Malgré ses efforts, il a du mal à se concentrer et à comprendre les cours. Il souhaite analyser la situation afin d’identifier les causes et d’améliorer ses performances.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600" dirty="0"/>
              <a:t>Pour l’aider à résoudre ce problème, on commence par utiliser la méthode QQOQCP afin de bien le définir. Compléter le tableau suivant en formulant des questions pertinentes à l’aide de la méthode QQOQCP (donner 2 à 3 questions par catégorie).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1600" dirty="0"/>
          </a:p>
          <a:p>
            <a:pPr>
              <a:lnSpc>
                <a:spcPct val="150000"/>
              </a:lnSpc>
            </a:pPr>
            <a:endParaRPr lang="fr-FR" sz="1600" dirty="0"/>
          </a:p>
          <a:p>
            <a:pPr>
              <a:lnSpc>
                <a:spcPct val="150000"/>
              </a:lnSpc>
            </a:pPr>
            <a:endParaRPr lang="fr-FR" sz="1600" dirty="0"/>
          </a:p>
          <a:p>
            <a:pPr>
              <a:lnSpc>
                <a:spcPct val="150000"/>
              </a:lnSpc>
            </a:pPr>
            <a:endParaRPr lang="fr-FR" sz="1600" dirty="0"/>
          </a:p>
          <a:p>
            <a:pPr>
              <a:lnSpc>
                <a:spcPct val="150000"/>
              </a:lnSpc>
            </a:pPr>
            <a:endParaRPr lang="fr-FR" sz="1600" dirty="0"/>
          </a:p>
          <a:p>
            <a:pPr>
              <a:lnSpc>
                <a:spcPct val="150000"/>
              </a:lnSpc>
            </a:pPr>
            <a:endParaRPr lang="fr-FR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1600" dirty="0"/>
          </a:p>
          <a:p>
            <a:pPr>
              <a:lnSpc>
                <a:spcPct val="150000"/>
              </a:lnSpc>
            </a:pPr>
            <a:endParaRPr lang="fr-FR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600" dirty="0">
                <a:solidFill>
                  <a:srgbClr val="FF0000"/>
                </a:solidFill>
              </a:rPr>
              <a:t>Travail en groupe de 5 à 6 étudiants : compléter le tableau (20 min) puis présenter devant la classe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C586FCB-BB50-4FBF-AA4E-E8D7190E4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36" y="2996952"/>
            <a:ext cx="6695728" cy="2640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52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4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7384"/>
            <a:ext cx="9144000" cy="580926"/>
          </a:xfrm>
        </p:spPr>
        <p:txBody>
          <a:bodyPr/>
          <a:lstStyle/>
          <a:p>
            <a:pPr eaLnBrk="1" hangingPunct="1"/>
            <a:r>
              <a:rPr lang="fr-FR" b="1" dirty="0"/>
              <a:t>QQOQCP</a:t>
            </a:r>
            <a:endParaRPr lang="fr-FR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4F447C-1A95-4CED-BF12-75C89E53EFE9}"/>
              </a:ext>
            </a:extLst>
          </p:cNvPr>
          <p:cNvSpPr/>
          <p:nvPr/>
        </p:nvSpPr>
        <p:spPr>
          <a:xfrm>
            <a:off x="389361" y="684955"/>
            <a:ext cx="8640960" cy="417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600" dirty="0">
                <a:solidFill>
                  <a:srgbClr val="FF0000"/>
                </a:solidFill>
              </a:rPr>
              <a:t> Exercice Bonus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D742706-BDFD-47B4-A070-74261E35E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352260"/>
            <a:ext cx="8562777" cy="409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714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5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7384"/>
            <a:ext cx="9144000" cy="580926"/>
          </a:xfrm>
        </p:spPr>
        <p:txBody>
          <a:bodyPr/>
          <a:lstStyle/>
          <a:p>
            <a:pPr eaLnBrk="1" hangingPunct="1"/>
            <a:r>
              <a:rPr lang="fr-FR" b="1" dirty="0"/>
              <a:t>Méthode 5M</a:t>
            </a:r>
            <a:endParaRPr lang="fr-FR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78C04D78-D330-4EDA-9407-B125C5B7E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36" y="753379"/>
            <a:ext cx="8078327" cy="303273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B2A6AAC-D141-41C0-B0B8-67A94AD41AE7}"/>
              </a:ext>
            </a:extLst>
          </p:cNvPr>
          <p:cNvSpPr/>
          <p:nvPr/>
        </p:nvSpPr>
        <p:spPr>
          <a:xfrm>
            <a:off x="603064" y="3985954"/>
            <a:ext cx="799288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fr-FR" dirty="0"/>
              <a:t>Reprendre le sujet de la difficulté rencontrée par un étudiant dans ses études et appliquer la méthode 5M afin d’identifier toutes les causes possibles.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fr-FR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fr-FR" dirty="0"/>
              <a:t>Travail en groupe de 5 à 6 étudiants : compléter </a:t>
            </a:r>
            <a:r>
              <a:rPr lang="fr-FR" dirty="0">
                <a:solidFill>
                  <a:srgbClr val="FF0000"/>
                </a:solidFill>
              </a:rPr>
              <a:t>le diagramme en arêtes de poisson (20 min), puis présenter devant la classe.</a:t>
            </a:r>
          </a:p>
        </p:txBody>
      </p:sp>
    </p:spTree>
    <p:extLst>
      <p:ext uri="{BB962C8B-B14F-4D97-AF65-F5344CB8AC3E}">
        <p14:creationId xmlns:p14="http://schemas.microsoft.com/office/powerpoint/2010/main" val="3631333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6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7384"/>
            <a:ext cx="9144000" cy="580926"/>
          </a:xfrm>
        </p:spPr>
        <p:txBody>
          <a:bodyPr/>
          <a:lstStyle/>
          <a:p>
            <a:pPr eaLnBrk="1" hangingPunct="1"/>
            <a:r>
              <a:rPr lang="fr-FR" b="1" dirty="0"/>
              <a:t>Méthode 5M</a:t>
            </a: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67020A-3569-41BF-A329-3F78048435E3}"/>
              </a:ext>
            </a:extLst>
          </p:cNvPr>
          <p:cNvSpPr/>
          <p:nvPr/>
        </p:nvSpPr>
        <p:spPr>
          <a:xfrm>
            <a:off x="389361" y="684955"/>
            <a:ext cx="8640960" cy="417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600" dirty="0">
                <a:solidFill>
                  <a:srgbClr val="FF0000"/>
                </a:solidFill>
              </a:rPr>
              <a:t> Exercice Bonus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C4D4273-CE7F-44CA-855C-17C960EB2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352260"/>
            <a:ext cx="8562777" cy="409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99273"/>
      </p:ext>
    </p:extLst>
  </p:cSld>
  <p:clrMapOvr>
    <a:masterClrMapping/>
  </p:clrMapOvr>
</p:sld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Modèle par défaut">
      <a:majorFont>
        <a:latin typeface="Comic Sans MS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35998</TotalTime>
  <Words>220</Words>
  <Application>Microsoft Office PowerPoint</Application>
  <PresentationFormat>Affichage à l'écran (4:3)</PresentationFormat>
  <Paragraphs>42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4" baseType="lpstr">
      <vt:lpstr>Arial</vt:lpstr>
      <vt:lpstr>Calibri</vt:lpstr>
      <vt:lpstr>Century Gothic</vt:lpstr>
      <vt:lpstr>Comic Sans MS</vt:lpstr>
      <vt:lpstr>Tahoma</vt:lpstr>
      <vt:lpstr>Times New Roman</vt:lpstr>
      <vt:lpstr>Wingdings</vt:lpstr>
      <vt:lpstr>Modèle par défaut</vt:lpstr>
      <vt:lpstr>FQ01 - Management de la Qualité  </vt:lpstr>
      <vt:lpstr>QQOQCP</vt:lpstr>
      <vt:lpstr>QQOQCP</vt:lpstr>
      <vt:lpstr>QQOQCP</vt:lpstr>
      <vt:lpstr>Méthode 5M</vt:lpstr>
      <vt:lpstr>Méthode 5M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boudaoud</dc:creator>
  <cp:lastModifiedBy>vuhaican</cp:lastModifiedBy>
  <cp:revision>1158</cp:revision>
  <cp:lastPrinted>2021-02-18T06:47:43Z</cp:lastPrinted>
  <dcterms:created xsi:type="dcterms:W3CDTF">1601-01-01T00:00:00Z</dcterms:created>
  <dcterms:modified xsi:type="dcterms:W3CDTF">2026-03-24T23:58:48Z</dcterms:modified>
</cp:coreProperties>
</file>